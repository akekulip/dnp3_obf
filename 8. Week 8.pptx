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5400" b="1" i="0">
                <a:solidFill>
                  <a:srgbClr val="D00000"/>
                </a:solidFill>
                <a:latin typeface="Arial"/>
              </a:rPr>
              <a:t>Week 8</a:t>
            </a:r>
          </a:p>
          <a:p>
            <a:r>
              <a:rPr sz="2600" b="0" i="0">
                <a:solidFill>
                  <a:srgbClr val="222222"/>
                </a:solidFill>
                <a:latin typeface="Arial"/>
              </a:rPr>
              <a:t>14 / 07 / 2026</a:t>
            </a:r>
          </a:p>
          <a:p>
            <a:pPr>
              <a:spcBef>
                <a:spcPts val="1400"/>
              </a:spcBef>
            </a:pPr>
            <a:r>
              <a:rPr sz="1600" b="0" i="0">
                <a:solidFill>
                  <a:srgbClr val="1F4E79"/>
                </a:solidFill>
                <a:latin typeface="Arial"/>
              </a:rPr>
              <a:t>Binary indexes  ·  nonexistent-index experiments  ·  when to split or pad  ·  ACK delay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3400" b="1" i="0">
                <a:solidFill>
                  <a:srgbClr val="D00000"/>
                </a:solidFill>
                <a:latin typeface="Arial"/>
              </a:rPr>
              <a:t>Pick up from last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920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222222"/>
                </a:solidFill>
                <a:latin typeface="Arial"/>
              </a:rPr>
              <a:t>•  </a:t>
            </a:r>
            <a:r>
              <a:rPr sz="1800" b="0" i="0">
                <a:solidFill>
                  <a:srgbClr val="222222"/>
                </a:solidFill>
                <a:latin typeface="Arial"/>
              </a:rPr>
              <a:t>Last week: one SELECT / OPERATE can carry </a:t>
            </a:r>
            <a:r>
              <a:rPr sz="1800" b="1" i="0">
                <a:solidFill>
                  <a:srgbClr val="1F4E79"/>
                </a:solidFill>
                <a:latin typeface="Arial"/>
              </a:rPr>
              <a:t>many CROBs</a:t>
            </a:r>
            <a:r>
              <a:rPr sz="1800" b="0" i="0">
                <a:solidFill>
                  <a:srgbClr val="222222"/>
                </a:solidFill>
                <a:latin typeface="Arial"/>
              </a:rPr>
              <a:t>.  </a:t>
            </a:r>
            <a:r>
              <a:rPr sz="1800" b="1" i="0">
                <a:solidFill>
                  <a:srgbClr val="E00000"/>
                </a:solidFill>
                <a:latin typeface="Arial"/>
              </a:rPr>
              <a:t>Nmax = 16</a:t>
            </a:r>
            <a:r>
              <a:rPr sz="1800" b="0" i="0">
                <a:solidFill>
                  <a:srgbClr val="222222"/>
                </a:solidFill>
                <a:latin typeface="Arial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222222"/>
                </a:solidFill>
                <a:latin typeface="Arial"/>
              </a:rPr>
              <a:t>•  At 17 CROBs, the 17th (index 16) is rejected with TOO_MANY_OPS, so no OPERATE is sent.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222222"/>
                </a:solidFill>
                <a:latin typeface="Arial"/>
              </a:rPr>
              <a:t>•  </a:t>
            </a:r>
            <a:r>
              <a:rPr sz="1800" b="1" i="0">
                <a:solidFill>
                  <a:srgbClr val="222222"/>
                </a:solidFill>
                <a:latin typeface="Arial"/>
              </a:rPr>
              <a:t>Dr. Lin asked two things: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063240"/>
            <a:ext cx="10058400" cy="11887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E00000"/>
                </a:solidFill>
                <a:latin typeface="Arial"/>
              </a:rPr>
              <a:t>•  Is "too many operations" the same as "that index does not exist"?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E00000"/>
                </a:solidFill>
                <a:latin typeface="Arial"/>
              </a:rPr>
              <a:t>•  Can a nonexistent index be slipped in as harmless padding?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0"/>
            <a:ext cx="36576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500" b="1" i="0">
                <a:solidFill>
                  <a:srgbClr val="E00000"/>
                </a:solidFill>
                <a:latin typeface="Arial"/>
              </a:rPr>
              <a:t>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10972800" cy="1554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Binary indexes — what they are.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Moved a nonexistent index around and read the errors.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When do we split, and when do we pad?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ACK delay — what we are thinking.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3400" b="1" i="0">
                <a:solidFill>
                  <a:srgbClr val="D00000"/>
                </a:solidFill>
                <a:latin typeface="Arial"/>
              </a:rPr>
              <a:t>Binary indexes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0292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500" b="1" i="0">
                <a:solidFill>
                  <a:srgbClr val="E00000"/>
                </a:solidFill>
                <a:latin typeface="Arial"/>
              </a:rPr>
              <a:t>What it clarified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394960" cy="1920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The index is the output point a CROB targets.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We simulate two binary output points: index 0 and index 1.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Valid indexes run 0 to K−1. Anything K or higher does not exist.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50292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500" b="1" i="0">
                <a:solidFill>
                  <a:srgbClr val="E00000"/>
                </a:solidFill>
                <a:latin typeface="Arial"/>
              </a:rPr>
              <a:t>How I used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5394960" cy="1645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Configure K valid points, then ask for one extra (index K) to find the edge.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Read the per-index status from the PCAP, not from the API.</a:t>
            </a:r>
          </a:p>
        </p:txBody>
      </p:sp>
      <p:pic>
        <p:nvPicPr>
          <p:cNvPr id="7" name="Picture 6" descr="fig1_binary_inde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577840" cy="39362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3400" b="1" i="0">
                <a:solidFill>
                  <a:srgbClr val="D00000"/>
                </a:solidFill>
                <a:latin typeface="Arial"/>
              </a:rPr>
              <a:t>Experiments — moving the nonexistent index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6492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834640"/>
                <a:gridCol w="1920240"/>
              </a:tblGrid>
              <a:tr h="53721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Case</a:t>
                      </a:r>
                    </a:p>
                  </a:txBody>
                  <a:tcPr anchor="ctr">
                    <a:solidFill>
                      <a:srgbClr val="D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Ordered CROBs (K = 5 valid)</a:t>
                      </a:r>
                    </a:p>
                  </a:txBody>
                  <a:tcPr anchor="ctr">
                    <a:solidFill>
                      <a:srgbClr val="D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What we test</a:t>
                      </a:r>
                    </a:p>
                  </a:txBody>
                  <a:tcPr anchor="ctr">
                    <a:solidFill>
                      <a:srgbClr val="D00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</a:rPr>
                        <a:t>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B34"/>
                          </a:solidFill>
                          <a:latin typeface="Consolas"/>
                        </a:rPr>
                        <a:t>0, 1, 2, 3, 4, 5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fake index last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</a:rPr>
                        <a:t>Begin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B34"/>
                          </a:solidFill>
                          <a:latin typeface="Consolas"/>
                        </a:rPr>
                        <a:t>5, 0, 1, 2, 3, 4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fake index first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</a:rPr>
                        <a:t>Middle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B34"/>
                          </a:solidFill>
                          <a:latin typeface="Consolas"/>
                        </a:rPr>
                        <a:t>0, 1, 5, 2, 3, 4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fake index in the middle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</a:rPr>
                        <a:t>Multiple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B34"/>
                          </a:solidFill>
                          <a:latin typeface="Consolas"/>
                        </a:rPr>
                        <a:t>0, 1, 2, 3, 4, 5, 6, 7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several fake indexes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</a:rPr>
                        <a:t>Decoy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B34"/>
                          </a:solidFill>
                          <a:latin typeface="Consolas"/>
                        </a:rPr>
                        <a:t>5, 6, 7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all indexes fake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</a:rPr>
                        <a:t>Fake + limit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B34"/>
                          </a:solidFill>
                          <a:latin typeface="Consolas"/>
                        </a:rPr>
                        <a:t>K=5, 17 CROBs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fake AND over the count limit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4E79"/>
                          </a:solidFill>
                          <a:latin typeface="Arial"/>
                        </a:rPr>
                        <a:t>Over limit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B34"/>
                          </a:solidFill>
                          <a:latin typeface="Consolas"/>
                        </a:rPr>
                        <a:t>K=16, 17 CROBs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all valid, one too many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0" y="1463040"/>
            <a:ext cx="4480560" cy="1920240"/>
          </a:xfrm>
          <a:prstGeom prst="roundRect">
            <a:avLst/>
          </a:prstGeom>
          <a:solidFill>
            <a:srgbClr val="F1F3F6"/>
          </a:solidFill>
          <a:ln w="1270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lnSpc>
                <a:spcPct val="106000"/>
              </a:lnSpc>
            </a:pPr>
            <a:r>
              <a:rPr sz="1100" b="0" i="0">
                <a:solidFill>
                  <a:srgbClr val="1B2B34"/>
                </a:solidFill>
                <a:latin typeface="Consolas"/>
              </a:rPr>
              <a:t>one command, ordered CROBs:</a:t>
            </a:r>
          </a:p>
          <a:p>
            <a:pPr>
              <a:lnSpc>
                <a:spcPct val="106000"/>
              </a:lnSpc>
            </a:pPr>
            <a:r>
              <a:rPr sz="1100" b="0" i="0">
                <a:solidFill>
                  <a:srgbClr val="1B2B34"/>
                </a:solidFill>
                <a:latin typeface="Consolas"/>
              </a:rPr>
              <a:t/>
            </a:r>
          </a:p>
          <a:p>
            <a:pPr>
              <a:lnSpc>
                <a:spcPct val="106000"/>
              </a:lnSpc>
            </a:pPr>
            <a:r>
              <a:rPr sz="1100" b="0" i="0">
                <a:solidFill>
                  <a:srgbClr val="1B2B34"/>
                </a:solidFill>
                <a:latin typeface="Consolas"/>
              </a:rPr>
              <a:t>run_master.py --action multi-crob-sbo \</a:t>
            </a:r>
          </a:p>
          <a:p>
            <a:pPr>
              <a:lnSpc>
                <a:spcPct val="106000"/>
              </a:lnSpc>
            </a:pPr>
            <a:r>
              <a:rPr sz="1100" b="0" i="0">
                <a:solidFill>
                  <a:srgbClr val="1B2B34"/>
                </a:solidFill>
                <a:latin typeface="Consolas"/>
              </a:rPr>
              <a:t>  --crob-plan "0:LATCH_ON,1:LATCH_ON,</a:t>
            </a:r>
          </a:p>
          <a:p>
            <a:pPr>
              <a:lnSpc>
                <a:spcPct val="106000"/>
              </a:lnSpc>
            </a:pPr>
            <a:r>
              <a:rPr sz="1100" b="0" i="0">
                <a:solidFill>
                  <a:srgbClr val="1B2B34"/>
                </a:solidFill>
                <a:latin typeface="Consolas"/>
              </a:rPr>
              <a:t>  2:LATCH_ON,3:LATCH_ON,</a:t>
            </a:r>
          </a:p>
          <a:p>
            <a:pPr>
              <a:lnSpc>
                <a:spcPct val="106000"/>
              </a:lnSpc>
            </a:pPr>
            <a:r>
              <a:rPr sz="1100" b="0" i="0">
                <a:solidFill>
                  <a:srgbClr val="1B2B34"/>
                </a:solidFill>
                <a:latin typeface="Consolas"/>
              </a:rPr>
              <a:t>  4:LATCH_ON,5:LATCH_ON"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703320"/>
            <a:ext cx="4480560" cy="20116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•  Group 12 Var 1 CROBs only.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•  Software points only. No physical device.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•  Correctness = per-index status, not packet 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3400" b="1" i="0">
                <a:solidFill>
                  <a:srgbClr val="D00000"/>
                </a:solidFill>
                <a:latin typeface="Arial"/>
              </a:rPr>
              <a:t>Two different rejections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486400" cy="2468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A nonexistent index → </a:t>
            </a:r>
            <a:r>
              <a:rPr sz="1500" b="1" i="0">
                <a:solidFill>
                  <a:srgbClr val="E00000"/>
                </a:solidFill>
                <a:latin typeface="Arial"/>
              </a:rPr>
              <a:t>OUT_OF_RANGE</a:t>
            </a:r>
            <a:r>
              <a:rPr sz="1500" b="0" i="0">
                <a:solidFill>
                  <a:srgbClr val="222222"/>
                </a:solidFill>
                <a:latin typeface="Arial"/>
              </a:rPr>
              <a:t>  (status 12).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Too many operations → </a:t>
            </a:r>
            <a:r>
              <a:rPr sz="1500" b="1" i="0">
                <a:solidFill>
                  <a:srgbClr val="B26A2F"/>
                </a:solidFill>
                <a:latin typeface="Arial"/>
              </a:rPr>
              <a:t>TOO_MANY_OPS</a:t>
            </a:r>
            <a:r>
              <a:rPr sz="1500" b="0" i="0">
                <a:solidFill>
                  <a:srgbClr val="222222"/>
                </a:solidFill>
                <a:latin typeface="Arial"/>
              </a:rPr>
              <a:t>  (status 8).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Different codes, and both show up per index on the wire.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K=5, N=17 shows both at once: </a:t>
            </a:r>
            <a:r>
              <a:rPr sz="1500" b="1" i="0">
                <a:solidFill>
                  <a:srgbClr val="222222"/>
                </a:solidFill>
                <a:latin typeface="Arial"/>
              </a:rPr>
              <a:t>0–4 ok, 5–15 OUT_OF_RANGE, 17th over the limit.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023360"/>
            <a:ext cx="5394960" cy="1463040"/>
          </a:xfrm>
          <a:prstGeom prst="roundRect">
            <a:avLst/>
          </a:prstGeom>
          <a:solidFill>
            <a:srgbClr val="F1F3F6"/>
          </a:solidFill>
          <a:ln w="1270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lnSpc>
                <a:spcPct val="106000"/>
              </a:lnSpc>
            </a:pPr>
            <a:r>
              <a:rPr sz="1300" b="0" i="0">
                <a:solidFill>
                  <a:srgbClr val="1B2B34"/>
                </a:solidFill>
                <a:latin typeface="Consolas"/>
              </a:rPr>
              <a:t># analyze_multicrob_pcap.py</a:t>
            </a:r>
          </a:p>
          <a:p>
            <a:pPr>
              <a:lnSpc>
                <a:spcPct val="106000"/>
              </a:lnSpc>
            </a:pPr>
            <a:r>
              <a:rPr sz="1300" b="0" i="0">
                <a:solidFill>
                  <a:srgbClr val="1B2B34"/>
                </a:solidFill>
                <a:latin typeface="Consolas"/>
              </a:rPr>
              <a:t>STATUS_NAMES = {0: 'SUCCESS',</a:t>
            </a:r>
          </a:p>
          <a:p>
            <a:pPr>
              <a:lnSpc>
                <a:spcPct val="106000"/>
              </a:lnSpc>
            </a:pPr>
            <a:r>
              <a:rPr sz="1300" b="0" i="0">
                <a:solidFill>
                  <a:srgbClr val="1B2B34"/>
                </a:solidFill>
                <a:latin typeface="Consolas"/>
              </a:rPr>
              <a:t>   8: 'TOO_MANY_OPS',</a:t>
            </a:r>
          </a:p>
          <a:p>
            <a:pPr>
              <a:lnSpc>
                <a:spcPct val="106000"/>
              </a:lnSpc>
            </a:pPr>
            <a:r>
              <a:rPr sz="1300" b="0" i="0">
                <a:solidFill>
                  <a:srgbClr val="1B2B34"/>
                </a:solidFill>
                <a:latin typeface="Consolas"/>
              </a:rPr>
              <a:t>  12: 'OUT_OF_RANGE'}</a:t>
            </a:r>
          </a:p>
        </p:txBody>
      </p:sp>
      <p:pic>
        <p:nvPicPr>
          <p:cNvPr id="5" name="Picture 4" descr="fig3_two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852160" cy="29591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3400" b="1" i="0">
                <a:solidFill>
                  <a:srgbClr val="D00000"/>
                </a:solidFill>
                <a:latin typeface="Arial"/>
              </a:rPr>
              <a:t>Where we put the fake index doesn't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5486400" cy="29260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Fake index at the start, middle, or end — same result.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That index comes back </a:t>
            </a:r>
            <a:r>
              <a:rPr sz="1600" b="1" i="0">
                <a:solidFill>
                  <a:srgbClr val="E00000"/>
                </a:solidFill>
                <a:latin typeface="Arial"/>
              </a:rPr>
              <a:t>OUT_OF_RANGE (12)</a:t>
            </a:r>
            <a:r>
              <a:rPr sz="1600" b="0" i="0">
                <a:solidFill>
                  <a:srgbClr val="222222"/>
                </a:solidFill>
                <a:latin typeface="Arial"/>
              </a:rPr>
              <a:t>, wherever it sits.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The SELECT only partly succeeds, so the master sends no OPERATE.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•  No valid output changes. The whole control is blocked.</a:t>
            </a:r>
          </a:p>
        </p:txBody>
      </p:sp>
      <p:pic>
        <p:nvPicPr>
          <p:cNvPr id="4" name="Picture 3" descr="fig2_pos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760720" cy="37569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3400" b="1" i="0">
                <a:solidFill>
                  <a:srgbClr val="D00000"/>
                </a:solidFill>
                <a:latin typeface="Arial"/>
              </a:rPr>
              <a:t>Can a nonexistent index be padding?  No.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20116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0" i="0">
                <a:solidFill>
                  <a:srgbClr val="222222"/>
                </a:solidFill>
                <a:latin typeface="Arial"/>
              </a:rPr>
              <a:t>•  The fake index is rejected and is visible on the wire (OUT_OF_RANGE).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0" i="0">
                <a:solidFill>
                  <a:srgbClr val="222222"/>
                </a:solidFill>
                <a:latin typeface="Arial"/>
              </a:rPr>
              <a:t>•  One bad index blocks the whole OPERATE.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0" i="0">
                <a:solidFill>
                  <a:srgbClr val="222222"/>
                </a:solidFill>
                <a:latin typeface="Arial"/>
              </a:rPr>
              <a:t>•  So we can't slip fake indexes into a real control to pad its size.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023360"/>
            <a:ext cx="10881360" cy="1463040"/>
          </a:xfrm>
          <a:prstGeom prst="roundRect">
            <a:avLst/>
          </a:prstGeom>
          <a:solidFill>
            <a:srgbClr val="FBF0E8"/>
          </a:solidFill>
          <a:ln w="19050">
            <a:solidFill>
              <a:srgbClr val="B26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/>
            <a:r>
              <a:rPr sz="1600" b="1" i="0">
                <a:solidFill>
                  <a:srgbClr val="B26A2F"/>
                </a:solidFill>
                <a:latin typeface="Arial"/>
              </a:rPr>
              <a:t>To be clear: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this does not prove padding is impossible. It shows one obvious way (fake indexes) does not work, and points us where to look next.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3400" b="1" i="0">
                <a:solidFill>
                  <a:srgbClr val="D00000"/>
                </a:solidFill>
                <a:latin typeface="Arial"/>
              </a:rPr>
              <a:t>So — when do we split, and when do we pad?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0292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500" b="1" i="0">
                <a:solidFill>
                  <a:srgbClr val="1F4E79"/>
                </a:solidFill>
                <a:latin typeface="Arial"/>
              </a:rPr>
              <a:t>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577840" cy="1920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Cut one reply into many small packets.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Good for big reads — hides the packet shape.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But total bytes stay the same, so it </a:t>
            </a:r>
            <a:r>
              <a:rPr sz="1500" b="1" i="0">
                <a:solidFill>
                  <a:srgbClr val="E00000"/>
                </a:solidFill>
                <a:latin typeface="Arial"/>
              </a:rPr>
              <a:t>does not hide size.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502920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500" b="1" i="0">
                <a:solidFill>
                  <a:srgbClr val="B26A2F"/>
                </a:solidFill>
                <a:latin typeface="Arial"/>
              </a:rPr>
              <a:t>Pad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5577840" cy="1920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Make a small reply look bigger — the only thing that hides size.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No safe way inside DNP3 today </a:t>
            </a:r>
            <a:r>
              <a:rPr sz="1500" b="0" i="0">
                <a:solidFill>
                  <a:srgbClr val="6B747C"/>
                </a:solidFill>
                <a:latin typeface="Arial"/>
              </a:rPr>
              <a:t>(the fake-index test is one dead end).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Real padding = a future encrypted-tunnel step.</a:t>
            </a:r>
          </a:p>
        </p:txBody>
      </p:sp>
      <p:pic>
        <p:nvPicPr>
          <p:cNvPr id="7" name="Picture 6" descr="fig4_spli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486400" cy="35866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1100" b="0" i="1">
                <a:solidFill>
                  <a:srgbClr val="6B747C"/>
                </a:solidFill>
                <a:latin typeface="Arial"/>
              </a:rPr>
              <a:t>For now: split the big reads, normalize their timing, and record the size that still leaks.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3400" b="1" i="0">
                <a:solidFill>
                  <a:srgbClr val="D00000"/>
                </a:solidFill>
                <a:latin typeface="Arial"/>
              </a:rPr>
              <a:t>ACK delay — what we are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669280" cy="33832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The reply rides on the same TCP ACK that answers the request — so ACK time = reply time.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Reply time grows with N, so it leaks how many points were touched </a:t>
            </a:r>
            <a:r>
              <a:rPr sz="1500" b="1" i="0">
                <a:solidFill>
                  <a:srgbClr val="E00000"/>
                </a:solidFill>
                <a:latin typeface="Arial"/>
              </a:rPr>
              <a:t>(R²≈0.99).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Idea: hold each reply to a shared deadline that does not depend on 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</a:t>
            </a:r>
            <a:r>
              <a:rPr sz="1500" b="1" i="0">
                <a:solidFill>
                  <a:srgbClr val="222222"/>
                </a:solidFill>
                <a:latin typeface="Arial"/>
              </a:rPr>
              <a:t>Random jitter won't do — an attacker averages it out. A shared clock they can't.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 Stay under the TCP retransmit timer. Never delay a control.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937760"/>
            <a:ext cx="5669280" cy="1371600"/>
          </a:xfrm>
          <a:prstGeom prst="roundRect">
            <a:avLst/>
          </a:prstGeom>
          <a:solidFill>
            <a:srgbClr val="F1F3F6"/>
          </a:solidFill>
          <a:ln w="12700">
            <a:solidFill>
              <a:srgbClr val="D6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lnSpc>
                <a:spcPct val="106000"/>
              </a:lnSpc>
            </a:pPr>
            <a:r>
              <a:rPr sz="1300" b="0" i="0">
                <a:solidFill>
                  <a:srgbClr val="1B2B34"/>
                </a:solidFill>
                <a:latin typeface="Consolas"/>
              </a:rPr>
              <a:t># release no earlier than a common deadline</a:t>
            </a:r>
          </a:p>
          <a:p>
            <a:pPr>
              <a:lnSpc>
                <a:spcPct val="106000"/>
              </a:lnSpc>
            </a:pPr>
            <a:r>
              <a:rPr sz="1300" b="0" i="0">
                <a:solidFill>
                  <a:srgbClr val="1B2B34"/>
                </a:solidFill>
                <a:latin typeface="Consolas"/>
              </a:rPr>
              <a:t>candidate_release = max(</a:t>
            </a:r>
          </a:p>
          <a:p>
            <a:pPr>
              <a:lnSpc>
                <a:spcPct val="106000"/>
              </a:lnSpc>
            </a:pPr>
            <a:r>
              <a:rPr sz="1300" b="0" i="0">
                <a:solidFill>
                  <a:srgbClr val="1B2B34"/>
                </a:solidFill>
                <a:latin typeface="Consolas"/>
              </a:rPr>
              <a:t>     response_ready_time,</a:t>
            </a:r>
          </a:p>
          <a:p>
            <a:pPr>
              <a:lnSpc>
                <a:spcPct val="106000"/>
              </a:lnSpc>
            </a:pPr>
            <a:r>
              <a:rPr sz="1300" b="0" i="0">
                <a:solidFill>
                  <a:srgbClr val="1B2B34"/>
                </a:solidFill>
                <a:latin typeface="Consolas"/>
              </a:rPr>
              <a:t>     request_time + target_delay)</a:t>
            </a:r>
          </a:p>
        </p:txBody>
      </p:sp>
      <p:pic>
        <p:nvPicPr>
          <p:cNvPr id="5" name="Picture 4" descr="fig5_ack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36041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r>
              <a:rPr sz="3400" b="1" i="0">
                <a:solidFill>
                  <a:srgbClr val="D00000"/>
                </a:solidFill>
                <a:latin typeface="Arial"/>
              </a:rPr>
              <a:t>Questions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3657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0" i="0">
                <a:solidFill>
                  <a:srgbClr val="222222"/>
                </a:solidFill>
                <a:latin typeface="Arial"/>
              </a:rPr>
              <a:t>•  </a:t>
            </a:r>
            <a:r>
              <a:rPr sz="1900" b="0" i="0">
                <a:solidFill>
                  <a:srgbClr val="222222"/>
                </a:solidFill>
                <a:latin typeface="Arial"/>
              </a:rPr>
              <a:t>Does the </a:t>
            </a:r>
            <a:r>
              <a:rPr sz="1900" b="1" i="0">
                <a:solidFill>
                  <a:srgbClr val="1F4E79"/>
                </a:solidFill>
                <a:latin typeface="Arial"/>
              </a:rPr>
              <a:t>OUT_OF_RANGE vs TOO_MANY_OPS</a:t>
            </a:r>
            <a:r>
              <a:rPr sz="1900" b="0" i="0">
                <a:solidFill>
                  <a:srgbClr val="222222"/>
                </a:solidFill>
                <a:latin typeface="Arial"/>
              </a:rPr>
              <a:t> story match what you expected?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0" i="0">
                <a:solidFill>
                  <a:srgbClr val="222222"/>
                </a:solidFill>
                <a:latin typeface="Arial"/>
              </a:rPr>
              <a:t>•  Next: measure the real retransmit timer on the rig, and repeat the size / timing readings with error bars.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0" i="0">
                <a:solidFill>
                  <a:srgbClr val="222222"/>
                </a:solidFill>
                <a:latin typeface="Arial"/>
              </a:rPr>
              <a:t>•  Then one clean run that splits + normalizes timing, and check nothing breaks.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0" i="0">
                <a:solidFill>
                  <a:srgbClr val="222222"/>
                </a:solidFill>
                <a:latin typeface="Arial"/>
              </a:rPr>
              <a:t>•  </a:t>
            </a:r>
            <a:r>
              <a:rPr sz="1900" b="1" i="0">
                <a:solidFill>
                  <a:srgbClr val="E00000"/>
                </a:solidFill>
                <a:latin typeface="Arial"/>
              </a:rPr>
              <a:t>Open question: </a:t>
            </a:r>
            <a:r>
              <a:rPr sz="1900" b="0" i="0">
                <a:solidFill>
                  <a:srgbClr val="222222"/>
                </a:solidFill>
                <a:latin typeface="Arial"/>
              </a:rPr>
              <a:t>do we open a future encrypted-tunnel line to actually hide size?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